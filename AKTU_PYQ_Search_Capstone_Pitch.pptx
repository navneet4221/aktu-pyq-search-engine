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12064"/>
            <a:ext cx="6035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45D6C5"/>
                </a:solidFill>
                <a:latin typeface="Aptos"/>
              </a:defRPr>
            </a:pPr>
            <a:r>
              <a:t>CAPSTONE PROJECT  /  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658368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From paper stacks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to focused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80944"/>
            <a:ext cx="6217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FC857"/>
                </a:solidFill>
                <a:latin typeface="Aptos"/>
              </a:defRPr>
            </a:pPr>
            <a:r>
              <a:t>AKTU PYQ 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584448"/>
            <a:ext cx="57607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D9E2EF"/>
                </a:solidFill>
                <a:latin typeface="Aptos"/>
              </a:defRPr>
            </a:pPr>
            <a:r>
              <a:t>AKTU students can struggle to find relevant past-paper questions across PDFs. This prototype turns a topic query into a ranked, source-linked shortlist.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960120"/>
            <a:ext cx="3968496" cy="4425696"/>
          </a:xfrm>
          <a:prstGeom prst="roundRect">
            <a:avLst>
              <a:gd name="adj" fmla="val 12000"/>
            </a:avLst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353312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45D6C5"/>
                </a:solidFill>
                <a:latin typeface="Aptos"/>
              </a:defRPr>
            </a:pPr>
            <a:r>
              <a:t>PILOT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847088"/>
            <a:ext cx="1554480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8704" y="2660904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D9E2EF"/>
                </a:solidFill>
                <a:latin typeface="Aptos"/>
              </a:defRPr>
            </a:pPr>
            <a:r>
              <a:t>searchable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7" y="3227832"/>
            <a:ext cx="3127248" cy="18288"/>
          </a:xfrm>
          <a:prstGeom prst="rect">
            <a:avLst/>
          </a:prstGeom>
          <a:solidFill>
            <a:srgbClr val="42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502152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FFC857"/>
                </a:solidFill>
                <a:latin typeface="Aptos"/>
              </a:defRPr>
            </a:pPr>
            <a:r>
              <a:t>5 papers  /  2 subjects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4142232"/>
            <a:ext cx="312724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D9E2EF"/>
                </a:solidFill>
                <a:latin typeface="Aptos"/>
              </a:defRPr>
            </a:pPr>
            <a:r>
              <a:t>Prototype evidence, not a learning-outcome claim.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053328"/>
            <a:ext cx="6035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D9E2EF"/>
                </a:solidFill>
                <a:latin typeface="Aptos"/>
              </a:defRPr>
            </a:pPr>
            <a:r>
              <a:t>PREPARED BY  NAVNEET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46520"/>
            <a:ext cx="10424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AAB8CA"/>
                </a:solidFill>
                <a:latin typeface="Aptos"/>
              </a:defRPr>
            </a:pPr>
            <a:r>
              <a:t>Local pilot from user-supplied papers; PDFs are not included in the public repository.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6758C"/>
                </a:solidFill>
                <a:latin typeface="Aptos"/>
              </a:defRPr>
            </a:pPr>
            <a: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04088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7253B"/>
                </a:solidFill>
                <a:latin typeface="Aptos"/>
              </a:defRPr>
            </a:pPr>
            <a:r>
              <a:t>A small, traceable pilot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1852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74536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AKTU PYQ SEARCH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56248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02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66758C"/>
                </a:solidFill>
                <a:latin typeface="Aptos"/>
              </a:defRPr>
            </a:pPr>
            <a:r>
              <a:t>What went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47088"/>
            <a:ext cx="1490472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47672"/>
            <a:ext cx="6035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45D6C5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048256"/>
            <a:ext cx="731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7253B"/>
                </a:solidFill>
                <a:latin typeface="Aptos"/>
              </a:defRPr>
            </a:pPr>
            <a:r>
              <a:t>indexed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4288" y="1847088"/>
            <a:ext cx="1490472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1947672"/>
            <a:ext cx="6035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FFC85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048256"/>
            <a:ext cx="731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7253B"/>
                </a:solidFill>
                <a:latin typeface="Aptos"/>
              </a:defRPr>
            </a:pPr>
            <a:r>
              <a:t>PDF papers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1847088"/>
            <a:ext cx="1490472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8" y="1947672"/>
            <a:ext cx="6035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759B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048256"/>
            <a:ext cx="731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7253B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10896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7253B"/>
                </a:solidFill>
                <a:latin typeface="Aptos"/>
              </a:defRPr>
            </a:pPr>
            <a:r>
              <a:t>Records by subject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9584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Database Management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54096" y="3575304"/>
            <a:ext cx="1965960" cy="18288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54096" y="3575304"/>
            <a:ext cx="1965960" cy="182880"/>
          </a:xfrm>
          <a:prstGeom prst="roundRect">
            <a:avLst>
              <a:gd name="adj" fmla="val 12000"/>
            </a:avLst>
          </a:prstGeom>
          <a:solidFill>
            <a:srgbClr val="45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496" y="3502152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7253B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05072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Data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54096" y="4050791"/>
            <a:ext cx="1965960" cy="18288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54096" y="4050791"/>
            <a:ext cx="557784" cy="182880"/>
          </a:xfrm>
          <a:prstGeom prst="roundRect">
            <a:avLst>
              <a:gd name="adj" fmla="val 12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1496" y="3977639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7253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1481328"/>
            <a:ext cx="5605272" cy="3191256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792224"/>
            <a:ext cx="4389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45D6C5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240280"/>
            <a:ext cx="6583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350008"/>
            <a:ext cx="33832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D9E2EF"/>
                </a:solidFill>
                <a:latin typeface="Aptos"/>
              </a:defRPr>
            </a:pPr>
            <a:r>
              <a:t>blank question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2898648"/>
            <a:ext cx="6583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008376"/>
            <a:ext cx="33832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D9E2EF"/>
                </a:solidFill>
                <a:latin typeface="Aptos"/>
              </a:defRPr>
            </a:pPr>
            <a:r>
              <a:t>exact duplicate texts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3575304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AAB8CA"/>
                </a:solidFill>
                <a:latin typeface="Aptos"/>
              </a:defRPr>
            </a:pPr>
            <a:r>
              <a:t>Years covered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3931920"/>
            <a:ext cx="4709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2017-18   2022-23   2023-24   2024-25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965192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202936"/>
            <a:ext cx="13898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6400"/>
                </a:solidFill>
                <a:latin typeface="Aptos"/>
              </a:defRPr>
            </a:pPr>
            <a:r>
              <a:t>DATA CAVEAT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9424" y="5138928"/>
            <a:ext cx="8869680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7253B"/>
                </a:solidFill>
                <a:latin typeface="Aptos"/>
              </a:defRPr>
            </a:pPr>
            <a:r>
              <a:t>36 searchable units are not 36 individual sub-questions. The starter parser groups text at detected question headings; manually inspect the extracted records before treating them as clean labels.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36208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758C"/>
                </a:solidFill>
                <a:latin typeface="Aptos"/>
              </a:defRPr>
            </a:pPr>
            <a:r>
              <a:t>Source: five locally supplied PDFs. Files are excluded from GitHub; metadata and counts describe this local pilot.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6758C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04088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7253B"/>
                </a:solidFill>
                <a:latin typeface="Aptos"/>
              </a:defRPr>
            </a:pPr>
            <a:r>
              <a:t>Meaning-based retrieval, with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1852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74536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AKTU PYQ SEARCH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56248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03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56231"/>
            <a:ext cx="177393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5120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45D6C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5915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253B"/>
                </a:solidFill>
                <a:latin typeface="Aptos"/>
              </a:defRPr>
            </a:pPr>
            <a:r>
              <a:t>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61488"/>
            <a:ext cx="14813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PyMuPDF extracts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embedded page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856231"/>
            <a:ext cx="177393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011680"/>
            <a:ext cx="5120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C8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35915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253B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761488"/>
            <a:ext cx="14813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Numbered question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units + metadata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1856231"/>
            <a:ext cx="177393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2011680"/>
            <a:ext cx="5120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759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35915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253B"/>
                </a:solidFill>
                <a:latin typeface="Aptos"/>
              </a:defRPr>
            </a:pPr>
            <a: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761488"/>
            <a:ext cx="14813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all-MiniLM-L6-v2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question vectors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1856231"/>
            <a:ext cx="177393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2011680"/>
            <a:ext cx="5120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45D6C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35915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253B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2761488"/>
            <a:ext cx="14813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Normalized vectors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scored by dot 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2" y="1856231"/>
            <a:ext cx="1773936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2096" y="2011680"/>
            <a:ext cx="5120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C85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35915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253B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761488"/>
            <a:ext cx="14813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Streamlit results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758C"/>
                </a:solidFill>
                <a:latin typeface="Aptos"/>
              </a:defRPr>
            </a:pPr>
            <a:r>
              <a:t>with filters +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350008"/>
            <a:ext cx="256032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66758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350008"/>
            <a:ext cx="256032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66758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350008"/>
            <a:ext cx="256032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66758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350008"/>
            <a:ext cx="256032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66758C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3703320"/>
            <a:ext cx="6711696" cy="1645920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005072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45D6C5"/>
                </a:solidFill>
                <a:latin typeface="Aptos"/>
              </a:defRPr>
            </a:pPr>
            <a:r>
              <a:t>RETRIEVAL CHOICE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425696"/>
            <a:ext cx="596188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A pretrained sentence encoder represents the query and paper text in the same vector space. Normalization makes the dot product equivalent to cosine similarity.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1231" y="3703320"/>
            <a:ext cx="3931920" cy="164592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91272" y="4005072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536780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1272" y="4425696"/>
            <a:ext cx="3236976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7253B"/>
                </a:solidFill>
                <a:latin typeface="Aptos"/>
              </a:defRPr>
            </a:pPr>
            <a:r>
              <a:t>Similarity ranks text. It is not answer correctness, probability, or exam importance. The model is not fine-tuned on AKTU papers.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52160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758C"/>
                </a:solidFill>
                <a:latin typeface="Aptos"/>
              </a:defRPr>
            </a:pPr>
            <a:r>
              <a:t>Implementation: app.py  /  ingest_pdfs.py  /  sentence-transformers/all-MiniLM-L6-v2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6758C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04088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7253B"/>
                </a:solidFill>
                <a:latin typeface="Aptos"/>
              </a:defRPr>
            </a:pPr>
            <a:r>
              <a:t>A working demo; impact still to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1852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74536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AKTU PYQ SEARCH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56248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04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517904"/>
            <a:ext cx="6583680" cy="4407408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4708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45D6C5"/>
                </a:solidFill>
                <a:latin typeface="Aptos"/>
              </a:defRPr>
            </a:pPr>
            <a:r>
              <a:t>OBSERVED SEARCH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31720"/>
            <a:ext cx="914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AAB8CA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42616"/>
            <a:ext cx="55778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“database normalization and transactions”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" y="3264408"/>
            <a:ext cx="5815584" cy="18288"/>
          </a:xfrm>
          <a:prstGeom prst="rect">
            <a:avLst/>
          </a:prstGeom>
          <a:solidFill>
            <a:srgbClr val="42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575304"/>
            <a:ext cx="3657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AAB8CA"/>
                </a:solidFill>
                <a:latin typeface="Aptos"/>
              </a:defRPr>
            </a:pPr>
            <a:r>
              <a:t>TOP RESULT  / 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931920"/>
            <a:ext cx="1645920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3500" b="1">
                <a:solidFill>
                  <a:srgbClr val="FFC857"/>
                </a:solidFill>
                <a:latin typeface="Aptos"/>
              </a:defRPr>
            </a:pPr>
            <a:r>
              <a:t>0.581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4133087"/>
            <a:ext cx="37490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DBMS  ·  2017-18  ·  PDF page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901184"/>
            <a:ext cx="54406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D9E2EF"/>
                </a:solidFill>
                <a:latin typeface="Aptos"/>
              </a:defRPr>
            </a:pPr>
            <a:r>
              <a:t>Top match concerned transactions and log-based recovery.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16733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7253B"/>
                </a:solidFill>
                <a:latin typeface="Aptos"/>
              </a:defRPr>
            </a:pPr>
            <a:r>
              <a:t>What we can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176272"/>
            <a:ext cx="3822191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7253B"/>
                </a:solidFill>
                <a:latin typeface="Aptos"/>
              </a:defRPr>
            </a:pPr>
            <a:r>
              <a:t>• End-to-end local search runs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7253B"/>
                </a:solidFill>
                <a:latin typeface="Aptos"/>
              </a:defRPr>
            </a:pPr>
            <a:r>
              <a:t>• Subject/year filters 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7253B"/>
                </a:solidFill>
                <a:latin typeface="Aptos"/>
              </a:defRPr>
            </a:pPr>
            <a:r>
              <a:t>• Results retain paper and page attribution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4656" y="3931920"/>
            <a:ext cx="3968496" cy="1609344"/>
          </a:xfrm>
          <a:prstGeom prst="roundRect">
            <a:avLst>
              <a:gd name="adj" fmla="val 12000"/>
            </a:avLst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4206240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946400"/>
                </a:solidFill>
                <a:latin typeface="Aptos"/>
              </a:defRPr>
            </a:pPr>
            <a:r>
              <a:t>NOT YET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4590288"/>
            <a:ext cx="3236976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7253B"/>
                </a:solidFill>
                <a:latin typeface="Aptos"/>
              </a:defRPr>
            </a:pPr>
            <a:r>
              <a:t>No relevance labels yet. Precision@5, Recall@5, study-time savings, and user satisfaction are not measured.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53912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6758C"/>
                </a:solidFill>
                <a:latin typeface="Aptos"/>
              </a:defRPr>
            </a:pPr>
            <a:r>
              <a:t>The 0.581 score is one observed similarity score—not a quality metric.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5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66758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04088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7253B"/>
                </a:solidFill>
                <a:latin typeface="Aptos"/>
              </a:defRPr>
            </a:pPr>
            <a:r>
              <a:t>Next: validate, refine, then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1852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74536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AKTU PYQ SEARCH  / 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8208" y="6556248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66758C"/>
                </a:solidFill>
                <a:latin typeface="Aptos"/>
              </a:defRPr>
            </a:pPr>
            <a: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09928"/>
            <a:ext cx="3456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5486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45D6C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14016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7253B"/>
                </a:solidFill>
                <a:latin typeface="Aptos"/>
              </a:defRPr>
            </a:pPr>
            <a:r>
              <a:t>Measure 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71800"/>
            <a:ext cx="2926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6758C"/>
                </a:solidFill>
                <a:latin typeface="Aptos"/>
              </a:defRPr>
            </a:pPr>
            <a:r>
              <a:t>Build a small query set; manually mark relevant records; report Precision@5 and Recall@5.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09928"/>
            <a:ext cx="3456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65960"/>
            <a:ext cx="5486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C8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414016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7253B"/>
                </a:solidFill>
                <a:latin typeface="Aptos"/>
              </a:defRPr>
            </a:pPr>
            <a:r>
              <a:t>Improve 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71800"/>
            <a:ext cx="2926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6758C"/>
                </a:solidFill>
                <a:latin typeface="Aptos"/>
              </a:defRPr>
            </a:pPr>
            <a:r>
              <a:t>Review question boundaries, normalize extracted text, and add OCR only if scanned papers require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09928"/>
            <a:ext cx="34564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965960"/>
            <a:ext cx="5486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759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414016"/>
            <a:ext cx="2926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7253B"/>
                </a:solidFill>
                <a:latin typeface="Aptos"/>
              </a:defRPr>
            </a:pPr>
            <a:r>
              <a:t>Grow responsibly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971800"/>
            <a:ext cx="2926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66758C"/>
                </a:solidFill>
                <a:latin typeface="Aptos"/>
              </a:defRPr>
            </a:pPr>
            <a:r>
              <a:t>Add course filters and a deployed demo; share only papers you are allowed to redistribute.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361688"/>
            <a:ext cx="10954512" cy="1325880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636008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45D6C5"/>
                </a:solidFill>
                <a:latin typeface="Aptos"/>
              </a:defRPr>
            </a:pPr>
            <a:r>
              <a:t>CAPSTONE SUBMISSION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029200"/>
            <a:ext cx="9784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Five-slide pitch  +  two-page executive summary  +  public GitHub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98464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6758C"/>
                </a:solidFill>
                <a:latin typeface="Aptos"/>
              </a:defRPr>
            </a:pPr>
            <a:r>
              <a:t>The reading guide also asks for a two-page executive summary; this deck covers its separate five-slide pitch requirement.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54496"/>
            <a:ext cx="10789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6758C"/>
                </a:solidFill>
                <a:latin typeface="Aptos"/>
              </a:defRPr>
            </a:pPr>
            <a:r>
              <a:t>Guide: The Capstone Project reading material, pp. 3-5. Metrics remain pending a labeled evaluation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AKTU PYQ Search Engine — Capstone Pitch</dc:title>
  <dc:subject>Five-slide capstone presentation based on the supplied reading guide</dc:subject>
  <dc:creator>Navneet Mishra</dc:creator>
  <cp:keywords>AKTU, PYQ, semantic search, capstone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